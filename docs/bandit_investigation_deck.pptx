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18288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Bandit Model Investigation</a:t>
            </a:r>
          </a:p>
          <a:p>
            <a:pPr algn="l">
              <a:spcAft>
                <a:spcPts val="600"/>
              </a:spcAft>
            </a:pPr>
            <a:r>
              <a:rPr sz="2800" b="0">
                <a:solidFill>
                  <a:srgbClr val="BBCCDD"/>
                </a:solidFill>
                <a:latin typeface="Calibri"/>
              </a:rPr>
              <a:t>Why the Model Can't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600" b="0">
                <a:solidFill>
                  <a:srgbClr val="99AABB"/>
                </a:solidFill>
                <a:latin typeface="Calibri"/>
              </a:rPr>
              <a:t>Model 195001001 (NIG Thompson Sampling)  |  Feb 2026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778899"/>
                </a:solidFill>
                <a:latin typeface="Calibri"/>
              </a:rPr>
              <a:t>Phase 1: Model Health  |  Phase 2: Root Cause Analysis  |  Convergence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The bandit model is mathematically correct but structurally unable to learn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Root cause: data sparsity -- 92 treatments compete for ~750 opens/day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Each treatment gets ~8 opens/day on average -- far too few to differentiate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87722"/>
                </a:solidFill>
                <a:latin typeface="Calibri"/>
              </a:rPr>
              <a:t>Fix: reduce treatment pool from 92 to 10 treatments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Simulation proves: convergence drops from 115 days to 28 days (4x faster)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Non-convergence drops from 37.5% to 0%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Not a software bug -- a statistical reality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0" y="13716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Hypothesis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H1: Bad training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Minor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877 phantom clicks (0.11%), 0 dupes, 0 time-travel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H2: Model misconfigured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92 treatments in pool; Jan 23 score anomaly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H3: Structural limitation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115-day convergence, 37.5% never converge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the Bandit Works</a:t>
            </a:r>
          </a:p>
          <a:p>
            <a:pPr algn="l"/>
            <a:r>
              <a:rPr sz="1400" b="0">
                <a:solidFill>
                  <a:srgbClr val="BBCCDD"/>
                </a:solidFill>
                <a:latin typeface="Calibri"/>
              </a:rPr>
              <a:t>NIG Thompson Sampling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82880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Prior
NIG(1,1,0,1)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2148840"/>
            <a:ext cx="365760" cy="914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182880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Observe
Opens &amp; Clicks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148840"/>
            <a:ext cx="365760" cy="914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182880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Update
Posterior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2148840"/>
            <a:ext cx="365760" cy="914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0" y="1645920"/>
            <a:ext cx="1828800" cy="109728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Sample
Thompson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148840"/>
            <a:ext cx="365760" cy="914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0" y="1645920"/>
            <a:ext cx="18288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Select
Treatment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Model trains on CTR of opens: clicks / opens (not clicks / sends)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Retrains from scratch daily using ~120 days of historical data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NIG prior: Normal-Inverse-Gamma(mu0=1, lambda=1, alpha=0, beta=1)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Posterior mean: mu = clicks / (1 + opens)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Thompson Sampling: draw random sample from posterior, select highest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Per request: only 4-7 treatments eligible (fitment-filtered)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Scores are raw CTR posteriors (~0.05-0.15 range)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Not comparable to Random arm scores (boost-weighted, 0.5-1.0 range)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Phase 1 Recap</a:t>
            </a:r>
          </a:p>
          <a:p>
            <a:pPr algn="l"/>
            <a:r>
              <a:rPr sz="1400" b="0">
                <a:solidFill>
                  <a:srgbClr val="BBCCDD"/>
                </a:solidFill>
                <a:latin typeface="Calibri"/>
              </a:rPr>
              <a:t>Model Updates But Doesn't Learn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Implication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Scores shift daily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0.001-0.005/day movement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Model IS updating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Click feedback broken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Clicks move scores ~0.001, often negative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Learning loop disconnected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Bandit CTR ~ 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Within 0.15pp post-50/50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 exploitation benefit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Near-uniform distribution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Top treatment = 6.28% share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 winner differentiation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User stickiness good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Only 2.2% see both arms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Clean experiment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Score anomaly (Jan 23)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1,587 scores &gt; 1.0 (max 4.32)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Requires investigation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3A5C"/>
                </a:solidFill>
                <a:latin typeface="Calibri"/>
              </a:rPr>
              <a:t>Conclusion: The model retrains daily and produces slightly different scores, but individual clicks have negligible impact. The bandit acts as another random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Phase 2: Three Hypotheses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3716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A5C"/>
                </a:solidFill>
                <a:latin typeface="Calibri"/>
              </a:rPr>
              <a:t>H1: Bad Training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99999"/>
                </a:solidFill>
                <a:latin typeface="Calibri"/>
              </a:rPr>
              <a:t>Is the model being fed incorrect data?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463040"/>
            <a:ext cx="13716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Ruled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Calibri"/>
              </a:rPr>
              <a:t>877 phantom clicks (0.11%) -- negligible.
0 duplicates, 0 time-travel events.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137160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A5C"/>
                </a:solidFill>
                <a:latin typeface="Calibri"/>
              </a:rPr>
              <a:t>H2: Model Misconfigured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99999"/>
                </a:solidFill>
                <a:latin typeface="Calibri"/>
              </a:rPr>
              <a:t>Is the bandit set up wrong?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200400"/>
            <a:ext cx="13716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Partially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1089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Calibri"/>
              </a:rPr>
              <a:t>92 treatments in pool (too many).
31 new treatments added Jan 23 -&gt; score anomaly.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46320"/>
            <a:ext cx="137160" cy="137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A5C"/>
                </a:solidFill>
                <a:latin typeface="Calibri"/>
              </a:rPr>
              <a:t>H3: Structural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99999"/>
                </a:solidFill>
                <a:latin typeface="Calibri"/>
              </a:rPr>
              <a:t>Can the model learn at this data volume?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937760"/>
            <a:ext cx="137160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Calibri"/>
              </a:rPr>
              <a:t>115 days to converge, 37.5% never.
Each treatment gets ~37 opens/day -- too few.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Quality Is Clean (H1)</a:t>
            </a:r>
          </a:p>
          <a:p>
            <a:pPr algn="l"/>
            <a:r>
              <a:rPr sz="1400" b="0">
                <a:solidFill>
                  <a:srgbClr val="BBCCDD"/>
                </a:solidFill>
                <a:latin typeface="Calibri"/>
              </a:rPr>
              <a:t>Training data audit: 120-day window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Total LIVE sends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821,740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Phantom clicks (clicked=1, opened=0)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877 (0.11%)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Phantom clicks (bandit 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209 (0.03%)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Negligible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Duplicate treatment_tracking_ids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Clean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Non-LIVE sends (SIMULATION/QA)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150,650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Filtered correctly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Time-travel clicks (click before send)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Clean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Time-travel opens (open before send)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Clean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Sends with score &lt;= 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Negligible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Sends with score &gt; 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1,686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Investigated (Q14)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686800" y="1828800"/>
            <a:ext cx="3200400" cy="2286000"/>
          </a:xfrm>
          <a:prstGeom prst="roundRect">
            <a:avLst/>
          </a:prstGeom>
          <a:solidFill>
            <a:srgbClr val="EAF7EA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600" b="1">
                <a:solidFill>
                  <a:srgbClr val="27AE60"/>
                </a:solidFill>
                <a:latin typeface="Calibri"/>
              </a:rPr>
              <a:t>VERDICT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B3A5C"/>
                </a:solidFill>
                <a:latin typeface="Calibri"/>
              </a:rPr>
              <a:t>Data is NOT the problem.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Zero duplicates, zero time-travel. 877 phantom clicks are from image-blocking email clients -- a known, negligible issue.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Treatment Count: 92 in Pool (H2)</a:t>
            </a:r>
          </a:p>
          <a:p>
            <a:pPr algn="l"/>
            <a:r>
              <a:rPr sz="1400" b="0">
                <a:solidFill>
                  <a:srgbClr val="BBCCDD"/>
                </a:solidFill>
                <a:latin typeface="Calibri"/>
              </a:rPr>
              <a:t>Traffic heavily concentrated at top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400800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500" b="1">
                <a:solidFill>
                  <a:srgbClr val="1B3A5C"/>
                </a:solidFill>
                <a:latin typeface="Calibri"/>
              </a:rPr>
              <a:t>92 treatments in bandit pool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Top 10: ~250 sends/day each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999999"/>
                </a:solidFill>
                <a:latin typeface="Calibri"/>
              </a:rPr>
              <a:t>~37 opens/day each</a:t>
            </a:r>
          </a:p>
          <a:p>
            <a:pPr algn="l">
              <a:spcAft>
                <a:spcPts val="600"/>
              </a:spcAft>
            </a:pPr>
            <a:r>
              <a:rPr sz="4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Rank 11-20: 103-189 sends/day</a:t>
            </a:r>
          </a:p>
          <a:p>
            <a:pPr algn="l">
              <a:spcAft>
                <a:spcPts val="600"/>
              </a:spcAft>
            </a:pPr>
            <a:r>
              <a:rPr sz="4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Rank 21-92: &lt; 50 sends/day each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999999"/>
                </a:solidFill>
                <a:latin typeface="Calibri"/>
              </a:rPr>
              <a:t>34 treatments get 1-7 sends/day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E87722"/>
                </a:solidFill>
                <a:latin typeface="Calibri"/>
              </a:rPr>
              <a:t>Per user: only 4-7 eligible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Fitment requirements narrow the pool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74C3C"/>
                </a:solidFill>
                <a:latin typeface="Calibri"/>
              </a:rPr>
              <a:t>Long-tail noise undermines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Score Anomaly (Jan 23)</a:t>
            </a:r>
          </a:p>
          <a:p>
            <a:pPr algn="l"/>
            <a:r>
              <a:rPr sz="1400" b="0">
                <a:solidFill>
                  <a:srgbClr val="BBCCDD"/>
                </a:solidFill>
                <a:latin typeface="Calibri"/>
              </a:rPr>
              <a:t>31 new treatments added overnight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Invalid Scores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Avg Score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Max Score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Jan 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Jan 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1.41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3.82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Jan 25-26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Jan 27-28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347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1.43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Jan 29-30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Jan 31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2.65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Feb 3+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500" b="1">
                <a:solidFill>
                  <a:srgbClr val="1B3A5C"/>
                </a:solidFill>
                <a:latin typeface="Calibri"/>
              </a:rPr>
              <a:t>What happened: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Jan 23: treatment count jumped from 56 to 87 (+31 overnight)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Total 1,686 invalid scores &gt; 1.0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E74C3C"/>
                </a:solidFill>
                <a:latin typeface="Calibri"/>
              </a:rPr>
              <a:t>Root cause: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New treatments had 1-29 sends before anomaly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NIG prior + tiny observations -&gt; extreme Thompson Sampling perturbation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999999"/>
                </a:solidFill>
                <a:latin typeface="Calibri"/>
              </a:rPr>
              <a:t>With lambda=1 and n=1, single click gives mu=0.5, huge stddev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7AE60"/>
                </a:solidFill>
                <a:latin typeface="Calibri"/>
              </a:rPr>
              <a:t>Self-corrected by Feb 1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As treatments accumulated data, posteriors stabilized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87722"/>
                </a:solidFill>
                <a:latin typeface="Calibri"/>
              </a:rPr>
              <a:t>Fix: clamp scores to [0, 1] + cold-start warmup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NIG Math Verification</a:t>
            </a:r>
          </a:p>
          <a:p>
            <a:pPr algn="l"/>
            <a:r>
              <a:rPr sz="1400" b="0">
                <a:solidFill>
                  <a:srgbClr val="BBCCDD"/>
                </a:solidFill>
                <a:latin typeface="Calibri"/>
              </a:rPr>
              <a:t>Model is correct -- not a bug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9966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097280"/>
                <a:gridCol w="1371600"/>
                <a:gridCol w="1828800"/>
                <a:gridCol w="18288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Clicks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Opens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Sends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Expected mu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Actual Score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17049625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1,462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11,797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0.0753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+0.6pp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21265478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1,232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7,008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0.1152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0.1114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-0.4pp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21265451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1,347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9,735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0.0912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0.0929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+0.2pp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16490939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8,065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0.0584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0.0603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+0.2pp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21265506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1,175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8,051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-0.01pp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Calibri"/>
              </a:rPr>
              <a:t>Formula: mu = clicks / (1 + opens)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All 5 treatments match expected NIG posterior mean within 0.01-0.6pp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Model uses opens (not sends) as observation count -- confirmed correct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Within-day score variation (stddev 0.003-0.008) is from Thompson Sampling perturbation, not posterior uncertainty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5669280"/>
            <a:ext cx="5486400" cy="640080"/>
          </a:xfrm>
          <a:prstGeom prst="roundRect">
            <a:avLst/>
          </a:prstGeom>
          <a:solidFill>
            <a:srgbClr val="EAF7EA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7AE60"/>
                </a:solidFill>
                <a:latin typeface="Calibri"/>
              </a:rPr>
              <a:t>VERDICT: The math is right. This is NOT a model bug.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Root Cause: Data Sparsity (H3)</a:t>
            </a:r>
          </a:p>
          <a:p>
            <a:pPr algn="l"/>
            <a:r>
              <a:rPr sz="1400" b="0">
                <a:solidFill>
                  <a:srgbClr val="BBCCDD"/>
                </a:solidFill>
                <a:latin typeface="Calibri"/>
              </a:rPr>
              <a:t>Not enough opens per treatment to differentiate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500" b="1">
                <a:solidFill>
                  <a:srgbClr val="1B3A5C"/>
                </a:solidFill>
                <a:latin typeface="Calibri"/>
              </a:rPr>
              <a:t>The math: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750 opens/day total across all treatments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20 high-traffic treatments -&gt; 37 opens/trt/day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E74C3C"/>
                </a:solidFill>
                <a:latin typeface="Calibri"/>
              </a:rPr>
              <a:t>Why it can't converge: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Adjacent treatments differ by ~2pp CTR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Posterior stddev must be &lt; 1pp to differentiate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Need ~75+ opens/trt/day for that precision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E87722"/>
                </a:solidFill>
                <a:latin typeface="Calibri"/>
              </a:rPr>
              <a:t>Impact on individual clicks: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With 12K+ observations, 1 click moves score by 0.00008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999999"/>
                </a:solidFill>
                <a:latin typeface="Calibri"/>
              </a:rPr>
              <a:t>Treatment 17049625: 218 sends/day, click delta essentially invisible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Convergence Simulation Results</a:t>
            </a:r>
          </a:p>
          <a:p>
            <a:pPr algn="l"/>
            <a:r>
              <a:rPr sz="1400" b="0">
                <a:solidFill>
                  <a:srgbClr val="BBCCDD"/>
                </a:solidFill>
                <a:latin typeface="Calibri"/>
              </a:rPr>
              <a:t>NIG simulation: 200 runs x 180 days, 4 scenarios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4114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98079" y="1280160"/>
          <a:ext cx="4389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Median Days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P90 Days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Never %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A: Current (20 trts)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B: 10 treatments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C: Per-user (7 trts)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D: 10 trts + prior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38404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500" b="1">
                <a:solidFill>
                  <a:srgbClr val="1B3A5C"/>
                </a:solidFill>
                <a:latin typeface="Calibri"/>
              </a:rPr>
              <a:t>Key takeaway: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Reducing 20 -&gt; 10 treatments: 4x faster convergence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Non-convergence: 37.5% -&gt; 0%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Informative priors DON'T help -- overwhelmed by data in 1-2 days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Per-user (7 trts) helps but model still maintains 20 global posteriors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Posterior Evolution Over Time</a:t>
            </a:r>
          </a:p>
          <a:p>
            <a:pPr algn="l"/>
            <a:r>
              <a:rPr sz="1400" b="0">
                <a:solidFill>
                  <a:srgbClr val="BBCCDD"/>
                </a:solidFill>
                <a:latin typeface="Calibri"/>
              </a:rPr>
              <a:t>Why 20 treatments can't separate adjacent CTRs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94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Left (A): With 20 treatments, posterior means remain noisy and overlapping for months. Adjacent treatments (e.g., 11.5% vs 10%) cannot be separated.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Right (B): With 10 treatments, 2x more data per treatment. Posteriors converge cleanly and the model can identify and exploit winners within 4 weeks.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Fix: Reduce to 10 Treatments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029200" cy="3200400"/>
          </a:xfrm>
          <a:prstGeom prst="roundRect">
            <a:avLst/>
          </a:prstGeom>
          <a:solidFill>
            <a:srgbClr val="FDEDED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sz="2000" b="1">
                <a:solidFill>
                  <a:srgbClr val="E74C3C"/>
                </a:solidFill>
                <a:latin typeface="Calibri"/>
              </a:rPr>
              <a:t>BEFORE: 92 Treatments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92 treatments maintain posteriors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Top 10 = 49% of traffic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72 treatments get &lt; 50 sends/day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37 opens/treatment/day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74C3C"/>
                </a:solidFill>
                <a:latin typeface="Calibri"/>
              </a:rPr>
              <a:t>115 days to converge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74C3C"/>
                </a:solidFill>
                <a:latin typeface="Calibri"/>
              </a:rPr>
              <a:t>37.5% never converge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029200" cy="3200400"/>
          </a:xfrm>
          <a:prstGeom prst="roundRect">
            <a:avLst/>
          </a:prstGeom>
          <a:solidFill>
            <a:srgbClr val="EAF7EA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sz="2000" b="1">
                <a:solidFill>
                  <a:srgbClr val="27AE60"/>
                </a:solidFill>
                <a:latin typeface="Calibri"/>
              </a:rPr>
              <a:t>AFTER: 10 Treatments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10 treatments with highest traffic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Each gets ~250 sends/day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No long-tail noise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75 opens/treatment/day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7AE60"/>
                </a:solidFill>
                <a:latin typeface="Calibri"/>
              </a:rPr>
              <a:t>28 days to converge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7AE60"/>
                </a:solidFill>
                <a:latin typeface="Calibri"/>
              </a:rPr>
              <a:t>0% never converge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743200"/>
            <a:ext cx="640080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87722"/>
                </a:solidFill>
                <a:latin typeface="Calibri"/>
              </a:rPr>
              <a:t>4x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Remove 82 long-tail treatments that get &lt; 50 sends/day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Top 10 already handle 49% of traffic -- minimal user impact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3A5C"/>
                </a:solidFill>
                <a:latin typeface="Calibri"/>
              </a:rPr>
              <a:t>Expected: model starts exploiting winners within 4 weeks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Recommendations -- Prioritized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200400" cy="41148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IMMEDIATE (This Week)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B3A5C"/>
                </a:solidFill>
                <a:latin typeface="Calibri"/>
              </a:rPr>
              <a:t>Reduce treatment pool 92 -&gt; 10  --  </a:t>
            </a:r>
            <a:r>
              <a:rPr sz="1200" b="0">
                <a:solidFill>
                  <a:srgbClr val="333333"/>
                </a:solidFill>
                <a:latin typeface="Calibri"/>
              </a:rPr>
              <a:t>HIGHEST IMPACT: 4x faster convergence, 0% non-convergence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B3A5C"/>
                </a:solidFill>
                <a:latin typeface="Calibri"/>
              </a:rPr>
              <a:t>Clamp scores to [0, 1]  --  </a:t>
            </a:r>
            <a:r>
              <a:rPr sz="1200" b="0">
                <a:solidFill>
                  <a:srgbClr val="333333"/>
                </a:solidFill>
                <a:latin typeface="Calibri"/>
              </a:rPr>
              <a:t>Prevent score &gt; 1.0 anomaly. Apply MIN(score, 1.0) in serving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3200400" cy="4114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SHORT-TERM (Next 2 Weeks)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B3A5C"/>
                </a:solidFill>
                <a:latin typeface="Calibri"/>
              </a:rPr>
              <a:t>Cold-start warmup (&gt;= 100 sends)  --  </a:t>
            </a:r>
            <a:r>
              <a:rPr sz="1200" b="0">
                <a:solidFill>
                  <a:srgbClr val="333333"/>
                </a:solidFill>
                <a:latin typeface="Calibri"/>
              </a:rPr>
              <a:t>New treatments excluded from bandit until sufficient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B3A5C"/>
                </a:solidFill>
                <a:latin typeface="Calibri"/>
              </a:rPr>
              <a:t>Revert to 10/90 split  --  </a:t>
            </a:r>
            <a:r>
              <a:rPr sz="1200" b="0">
                <a:solidFill>
                  <a:srgbClr val="333333"/>
                </a:solidFill>
                <a:latin typeface="Calibri"/>
              </a:rPr>
              <a:t>With reduced pool, give bandit 90% traffic to learn faster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3200400" cy="41148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MEDIUM-TERM (Next Month)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B3A5C"/>
                </a:solidFill>
                <a:latin typeface="Calibri"/>
              </a:rPr>
              <a:t>Hierarchical learning  --  </a:t>
            </a:r>
            <a:r>
              <a:rPr sz="1200" b="0">
                <a:solidFill>
                  <a:srgbClr val="333333"/>
                </a:solidFill>
                <a:latin typeface="Calibri"/>
              </a:rPr>
              <a:t>Learn at campaign-type level, then differentiate within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B3A5C"/>
                </a:solidFill>
                <a:latin typeface="Calibri"/>
              </a:rPr>
              <a:t>Contextual bandits  --  </a:t>
            </a:r>
            <a:r>
              <a:rPr sz="1200" b="0">
                <a:solidFill>
                  <a:srgbClr val="333333"/>
                </a:solidFill>
                <a:latin typeface="Calibri"/>
              </a:rPr>
              <a:t>Current model ignores user features -- add vehicle type, engagement history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Summary &amp; Key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7772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18288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Treatments in bandit pool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Treatments with 100+ sends/day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20 (75% of traffic)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Top 10 share of traffic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Treatments eligible per user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4-7 (fitment-filtered)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Clicks per treatment per week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0.1-18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Phantom clicks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877 / 821,740 (0.11%)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Q11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Invalid scores (&gt; 1.0)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1,686 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Q11/Q14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NIG posterior 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Within 0.2-0.6pp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Q13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Convergence (20 trts)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115 days, 37.5% never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Simulation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Convergence (10 trts)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28 days, 0% never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Simulation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Improvement (20 -&gt; 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4x faster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Simulation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686800" y="1371600"/>
            <a:ext cx="3200400" cy="32004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1800" b="1">
                <a:solidFill>
                  <a:srgbClr val="E87722"/>
                </a:solidFill>
                <a:latin typeface="Calibri"/>
              </a:rPr>
              <a:t>Bottom Line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Not a software bug -- a statistical reality to address through treatment consolidation.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87722"/>
                </a:solidFill>
                <a:latin typeface="Calibri"/>
              </a:rPr>
              <a:t>Next Steps: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1. Reduce pool 92 -&gt; 10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2. Clamp scores to [0,1]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3. Add cold-start warmup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4. Monitor for 4 weeks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